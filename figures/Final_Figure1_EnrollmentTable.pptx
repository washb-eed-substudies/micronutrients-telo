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6"/>
    <p:restoredTop sz="94687"/>
  </p:normalViewPr>
  <p:slideViewPr>
    <p:cSldViewPr snapToGrid="0">
      <p:cViewPr>
        <p:scale>
          <a:sx n="127" d="100"/>
          <a:sy n="127" d="100"/>
        </p:scale>
        <p:origin x="1352" y="-3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749275"/>
            <a:ext cx="6428423" cy="3721230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614010"/>
            <a:ext cx="5672138" cy="2580613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2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34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664740"/>
            <a:ext cx="6522958" cy="4446176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7152978"/>
            <a:ext cx="6522958" cy="233813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82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83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845355"/>
            <a:ext cx="3214211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845355"/>
            <a:ext cx="3214211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3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69073"/>
            <a:ext cx="6522958" cy="2065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620202"/>
            <a:ext cx="3199440" cy="128412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904322"/>
            <a:ext cx="3199440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620202"/>
            <a:ext cx="3215196" cy="128412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904322"/>
            <a:ext cx="3215196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6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4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0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712576"/>
            <a:ext cx="2439216" cy="2494016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538968"/>
            <a:ext cx="3828693" cy="7595861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3206592"/>
            <a:ext cx="2439216" cy="5940607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4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712576"/>
            <a:ext cx="2439216" cy="2494016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538968"/>
            <a:ext cx="3828693" cy="7595861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3206592"/>
            <a:ext cx="2439216" cy="5940607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9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6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69071"/>
            <a:ext cx="1630740" cy="90581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69071"/>
            <a:ext cx="4797683" cy="90581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7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69073"/>
            <a:ext cx="6522958" cy="2065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845355"/>
            <a:ext cx="6522958" cy="678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906786"/>
            <a:ext cx="1701641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FEB9C-F8A3-0244-92C7-073342A7EFC8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906786"/>
            <a:ext cx="2552462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906786"/>
            <a:ext cx="1701641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73DA4-59AB-0040-B3BA-46048B755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0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80CD61-2A79-FB1B-57A8-89E88F58DE6A}"/>
              </a:ext>
            </a:extLst>
          </p:cNvPr>
          <p:cNvSpPr/>
          <p:nvPr/>
        </p:nvSpPr>
        <p:spPr>
          <a:xfrm>
            <a:off x="1933620" y="65827"/>
            <a:ext cx="3695554" cy="47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13,279 compounds assessed for eligibility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3E246A-0905-67B9-17A3-ABFC1B8DB157}"/>
              </a:ext>
            </a:extLst>
          </p:cNvPr>
          <p:cNvSpPr/>
          <p:nvPr/>
        </p:nvSpPr>
        <p:spPr>
          <a:xfrm>
            <a:off x="1523533" y="1878695"/>
            <a:ext cx="4515729" cy="10128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720 clusters created and randomly allocated across 7 arms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5,551 compounds randomly allocated across 7 arms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 of 7 arms selected into substudy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766AF-5402-962C-3F7A-EC0CAE5D23E3}"/>
              </a:ext>
            </a:extLst>
          </p:cNvPr>
          <p:cNvSpPr/>
          <p:nvPr/>
        </p:nvSpPr>
        <p:spPr>
          <a:xfrm>
            <a:off x="1858009" y="3149186"/>
            <a:ext cx="3846785" cy="11746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arm and</a:t>
            </a:r>
          </a:p>
          <a:p>
            <a:pPr algn="ctr"/>
            <a:r>
              <a:rPr lang="en-US" sz="12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Nutrition + Water + Sanitation + Handwashing arm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270 clusters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2,068 households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F52BDA-F6A0-B5EE-2722-1D0B961DCC15}"/>
              </a:ext>
            </a:extLst>
          </p:cNvPr>
          <p:cNvSpPr/>
          <p:nvPr/>
        </p:nvSpPr>
        <p:spPr>
          <a:xfrm>
            <a:off x="3141866" y="4941545"/>
            <a:ext cx="1279065" cy="6696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 2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135 clusters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1,021 children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1C793F-9C4B-ECB7-70FF-934A5F9F02EC}"/>
              </a:ext>
            </a:extLst>
          </p:cNvPr>
          <p:cNvSpPr/>
          <p:nvPr/>
        </p:nvSpPr>
        <p:spPr>
          <a:xfrm>
            <a:off x="2728719" y="5851949"/>
            <a:ext cx="2105361" cy="19680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 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25 new children measured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262 children lost to follow-up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63 moved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 absent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90 withdrew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67 no live birth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37 child death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EF30E-24F7-2ED6-795F-84AB6B31427E}"/>
              </a:ext>
            </a:extLst>
          </p:cNvPr>
          <p:cNvSpPr/>
          <p:nvPr/>
        </p:nvSpPr>
        <p:spPr>
          <a:xfrm>
            <a:off x="3139034" y="8034341"/>
            <a:ext cx="1279065" cy="6696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 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135 clusters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759 children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D60313-C702-EF93-1F7F-BA65D0C21E35}"/>
              </a:ext>
            </a:extLst>
          </p:cNvPr>
          <p:cNvSpPr/>
          <p:nvPr/>
        </p:nvSpPr>
        <p:spPr>
          <a:xfrm>
            <a:off x="2522148" y="8953478"/>
            <a:ext cx="2532173" cy="6696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 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47 missing exposures or outcome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C45BC0-2A32-1B44-674E-5E6812B576CD}"/>
              </a:ext>
            </a:extLst>
          </p:cNvPr>
          <p:cNvSpPr/>
          <p:nvPr/>
        </p:nvSpPr>
        <p:spPr>
          <a:xfrm>
            <a:off x="3141887" y="9921954"/>
            <a:ext cx="1279065" cy="6696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 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135 clusters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712 children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11E92F-489F-1864-0323-00D7DAC05F60}"/>
              </a:ext>
            </a:extLst>
          </p:cNvPr>
          <p:cNvSpPr/>
          <p:nvPr/>
        </p:nvSpPr>
        <p:spPr>
          <a:xfrm>
            <a:off x="5826964" y="4169664"/>
            <a:ext cx="1711958" cy="11746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Number of clusters not selected into substudy</a:t>
            </a:r>
          </a:p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Year 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135 clusters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FA9551-2EAA-0234-4DA3-6E3602F8992B}"/>
              </a:ext>
            </a:extLst>
          </p:cNvPr>
          <p:cNvSpPr/>
          <p:nvPr/>
        </p:nvSpPr>
        <p:spPr>
          <a:xfrm>
            <a:off x="4226300" y="626621"/>
            <a:ext cx="3312637" cy="11746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Excluded: 7,728 compounds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7,429 compounds excluded to create buffer zones 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219 compounds did not meet enrollment criteria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80 compounds declined to participate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A8E289-5A7F-BB78-F2DF-48858478880A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781397" y="544129"/>
            <a:ext cx="1" cy="1334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CF20C2-136D-FD66-1FFD-BF911C1DB59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781396" y="2850332"/>
            <a:ext cx="6" cy="29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58CE5BD-2480-288B-13DA-B7D0B7FC7A3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781396" y="4298305"/>
            <a:ext cx="3" cy="643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90C2CD-FB49-65F1-31EF-3C964467F7D7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781395" y="5611167"/>
            <a:ext cx="5" cy="2407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1CBAC8-ADD1-B315-6C56-F0F4F7B276FE}"/>
              </a:ext>
            </a:extLst>
          </p:cNvPr>
          <p:cNvCxnSpPr>
            <a:cxnSpLocks/>
          </p:cNvCxnSpPr>
          <p:nvPr/>
        </p:nvCxnSpPr>
        <p:spPr>
          <a:xfrm>
            <a:off x="3778567" y="7820017"/>
            <a:ext cx="13" cy="214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2756B41-24FA-90C8-C44D-CE619E49BBE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778567" y="8703963"/>
            <a:ext cx="9668" cy="249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F3E4A1-FDBC-D7B1-2357-2D70B63E9D2D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778567" y="9623100"/>
            <a:ext cx="2853" cy="298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2F510E6-72D4-99C6-EE72-F8DBF43CB5C9}"/>
              </a:ext>
            </a:extLst>
          </p:cNvPr>
          <p:cNvCxnSpPr>
            <a:cxnSpLocks/>
          </p:cNvCxnSpPr>
          <p:nvPr/>
        </p:nvCxnSpPr>
        <p:spPr>
          <a:xfrm>
            <a:off x="3778566" y="4642691"/>
            <a:ext cx="2048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1765C7-8463-FC5C-2A3D-551F9C8F5CC5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3778566" y="1209073"/>
            <a:ext cx="447734" cy="4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208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127</Words>
  <Application>Microsoft Macintosh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Sumukh Praveen Cadpakar</dc:creator>
  <cp:lastModifiedBy>Sumukh Praveen Cadpakar</cp:lastModifiedBy>
  <cp:revision>5</cp:revision>
  <dcterms:created xsi:type="dcterms:W3CDTF">2025-11-20T02:06:11Z</dcterms:created>
  <dcterms:modified xsi:type="dcterms:W3CDTF">2026-06-10T06:19:39Z</dcterms:modified>
</cp:coreProperties>
</file>